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828800"/>
            <a:ext cx="1463040" cy="146304"/>
          </a:xfrm>
          <a:prstGeom prst="rect">
            <a:avLst/>
          </a:prstGeom>
          <a:solidFill>
            <a:srgbClr val="5938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2240280"/>
            <a:ext cx="10515600" cy="559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3600" b="1" dirty="0">
                <a:solidFill>
                  <a:srgbClr val="141414"/>
                </a:solidFill>
                <a:latin typeface="Inter 28pt"/>
              </a:rPr>
              <a:t>Marketing funnel &amp; channel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94760"/>
            <a:ext cx="9601200" cy="245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500" b="0" dirty="0">
                <a:solidFill>
                  <a:srgbClr val="5938B7"/>
                </a:solidFill>
                <a:latin typeface="Inter 28pt"/>
              </a:rPr>
              <a:t>FY24 – FY25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120640"/>
            <a:ext cx="10911535" cy="9525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534924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sz="1400" b="0" dirty="0">
                <a:solidFill>
                  <a:srgbClr val="404040"/>
                </a:solidFill>
                <a:latin typeface="Inter 28pt"/>
              </a:rPr>
              <a:t>Paulo Muzyczuk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sz="1400" b="0" dirty="0">
                <a:solidFill>
                  <a:srgbClr val="404040"/>
                </a:solidFill>
                <a:latin typeface="Inter 28pt"/>
              </a:rPr>
              <a:t>7 August 2026</a:t>
            </a:r>
          </a:p>
        </p:txBody>
      </p:sp>
      <p:pic>
        <p:nvPicPr>
          <p:cNvPr id="7" name="Picture 6" descr="deel-letter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505" y="6035040"/>
            <a:ext cx="49611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2400" b="1" dirty="0">
                <a:solidFill>
                  <a:srgbClr val="141414"/>
                </a:solidFill>
                <a:latin typeface="Inter 28pt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19656"/>
            <a:ext cx="164592" cy="164592"/>
          </a:xfrm>
          <a:prstGeom prst="rect">
            <a:avLst/>
          </a:prstGeom>
          <a:solidFill>
            <a:srgbClr val="5938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51560" y="1737360"/>
            <a:ext cx="9875520" cy="2875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700" b="1" dirty="0">
                <a:solidFill>
                  <a:srgbClr val="141414"/>
                </a:solidFill>
                <a:latin typeface="Inter 28pt"/>
              </a:rPr>
              <a:t>FY25 growth was conversion-led, not traffic-led: attributed SQOs +35% on flat-to-declining trustworthy traffic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36976"/>
            <a:ext cx="164592" cy="164592"/>
          </a:xfrm>
          <a:prstGeom prst="rect">
            <a:avLst/>
          </a:prstGeom>
          <a:solidFill>
            <a:srgbClr val="5938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51560" y="3154680"/>
            <a:ext cx="9875520" cy="2875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700" b="1" dirty="0">
                <a:solidFill>
                  <a:srgbClr val="141414"/>
                </a:solidFill>
                <a:latin typeface="Inter 28pt"/>
              </a:rPr>
              <a:t>Efficiency fell as spend scaled: branded search cost/SQO doubled on ~3× budget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54296"/>
            <a:ext cx="164592" cy="164592"/>
          </a:xfrm>
          <a:prstGeom prst="rect">
            <a:avLst/>
          </a:prstGeom>
          <a:solidFill>
            <a:srgbClr val="5938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51560" y="4572000"/>
            <a:ext cx="9875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 dirty="0"/>
              <a:t>Roadmap: incrementality via geo-holdout on branded search, MMM for ongoing allocation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331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100" b="1" dirty="0">
                <a:solidFill>
                  <a:srgbClr val="141414"/>
                </a:solidFill>
                <a:latin typeface="Inter 28pt"/>
              </a:rPr>
              <a:t>FY25 growth was conversion-led, not traffic-led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70741" y="2807336"/>
            <a:ext cx="2819400" cy="2046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2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404040"/>
                </a:solidFill>
                <a:latin typeface="Inter 28pt"/>
              </a:rPr>
              <a:t>the rate shift is broad-based (8 of 10 programs)</a:t>
            </a:r>
          </a:p>
          <a:p>
            <a:pPr marL="285750" indent="-285750" algn="l">
              <a:lnSpc>
                <a:spcPct val="12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endParaRPr lang="en-US" sz="1400" dirty="0">
              <a:solidFill>
                <a:srgbClr val="404040"/>
              </a:solidFill>
              <a:latin typeface="Inter 28pt"/>
            </a:endParaRPr>
          </a:p>
          <a:p>
            <a:pPr marL="285750" indent="-285750" algn="l">
              <a:lnSpc>
                <a:spcPct val="12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404040"/>
                </a:solidFill>
                <a:latin typeface="Inter 28pt"/>
              </a:rPr>
              <a:t>its cause is not determinable </a:t>
            </a:r>
            <a:r>
              <a:rPr lang="en-US" sz="1400" dirty="0">
                <a:solidFill>
                  <a:srgbClr val="404040"/>
                </a:solidFill>
                <a:latin typeface="Inter 28pt"/>
              </a:rPr>
              <a:t>using the available data</a:t>
            </a:r>
          </a:p>
          <a:p>
            <a:pPr marL="285750" indent="-285750" algn="l">
              <a:lnSpc>
                <a:spcPct val="12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endParaRPr lang="en-US" sz="1400" dirty="0">
              <a:solidFill>
                <a:srgbClr val="404040"/>
              </a:solidFill>
              <a:latin typeface="Inter 28pt"/>
            </a:endParaRPr>
          </a:p>
          <a:p>
            <a:pPr marL="285750" indent="-285750" algn="l">
              <a:lnSpc>
                <a:spcPct val="12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404040"/>
                </a:solidFill>
                <a:latin typeface="Inter 28pt"/>
              </a:rPr>
              <a:t>sales-side or attribution change are plausible candidates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4A6986-3CCB-0348-154C-69A60F44FAE8}"/>
              </a:ext>
            </a:extLst>
          </p:cNvPr>
          <p:cNvSpPr txBox="1"/>
          <p:nvPr/>
        </p:nvSpPr>
        <p:spPr>
          <a:xfrm>
            <a:off x="552994" y="764231"/>
            <a:ext cx="6096000" cy="329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04040"/>
                </a:solidFill>
                <a:latin typeface="Inter 28pt"/>
              </a:rPr>
              <a:t>attributed SQOs +35% on flat-to-declining trustworthy traffic</a:t>
            </a:r>
            <a:endParaRPr lang="en-US" sz="1400" b="0" dirty="0">
              <a:solidFill>
                <a:srgbClr val="404040"/>
              </a:solidFill>
              <a:latin typeface="Inter 28pt"/>
            </a:endParaRPr>
          </a:p>
        </p:txBody>
      </p:sp>
      <p:pic>
        <p:nvPicPr>
          <p:cNvPr id="7" name="Picture 6" descr="fig1_indexed_funnel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94" y="1567489"/>
            <a:ext cx="8530661" cy="44181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331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100" b="1" dirty="0">
                <a:solidFill>
                  <a:srgbClr val="141414"/>
                </a:solidFill>
                <a:latin typeface="Inter 28pt"/>
              </a:rPr>
              <a:t>Seasonality looks straightforward and plannable</a:t>
            </a:r>
          </a:p>
        </p:txBody>
      </p:sp>
      <p:pic>
        <p:nvPicPr>
          <p:cNvPr id="3" name="Picture 2" descr="fig3_month_of_year_dev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753" y="996533"/>
            <a:ext cx="8602188" cy="539550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404040"/>
                </a:solidFill>
                <a:latin typeface="Inter 28pt"/>
              </a:rPr>
              <a:t>Patterns labeled seasonal only if recurring in both fiscal years; one-year swings listed in appendix.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8231DB-8D2B-D6C0-44F0-455029135E3A}"/>
              </a:ext>
            </a:extLst>
          </p:cNvPr>
          <p:cNvSpPr txBox="1"/>
          <p:nvPr/>
        </p:nvSpPr>
        <p:spPr>
          <a:xfrm>
            <a:off x="640080" y="737387"/>
            <a:ext cx="10911535" cy="23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04040"/>
                </a:solidFill>
                <a:latin typeface="Inter 28pt"/>
              </a:rPr>
              <a:t>December dips, October lifts — direction repeats, amplitude doesn't</a:t>
            </a:r>
            <a:endParaRPr lang="en-US" sz="1400" b="0" dirty="0">
              <a:solidFill>
                <a:srgbClr val="404040"/>
              </a:solidFill>
              <a:latin typeface="Inter 28p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331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100" b="1" dirty="0">
                <a:solidFill>
                  <a:srgbClr val="141414"/>
                </a:solidFill>
                <a:latin typeface="Inter 28pt"/>
              </a:rPr>
              <a:t>Channels do different jobs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404040"/>
                </a:solidFill>
                <a:latin typeface="Inter 28pt"/>
              </a:rPr>
              <a:t>FY25 (Jul-24–Jun-25); ratios of fiscal-year totals on attributed values, volume-weighted; funnel-lag caveat.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FF6DC3-51F6-B603-E29E-77C6DD97460B}"/>
              </a:ext>
            </a:extLst>
          </p:cNvPr>
          <p:cNvSpPr txBox="1"/>
          <p:nvPr/>
        </p:nvSpPr>
        <p:spPr>
          <a:xfrm>
            <a:off x="640080" y="782746"/>
            <a:ext cx="10911535" cy="23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04040"/>
                </a:solidFill>
                <a:latin typeface="Inter 28pt"/>
              </a:rPr>
              <a:t>social broadcasts, search captures, brand search converts — FY25 funnel shapes differ by an order of magnitude</a:t>
            </a:r>
            <a:endParaRPr lang="en-US" sz="1400" b="0" dirty="0">
              <a:solidFill>
                <a:srgbClr val="404040"/>
              </a:solidFill>
              <a:latin typeface="Inter 28pt"/>
            </a:endParaRPr>
          </a:p>
        </p:txBody>
      </p:sp>
      <p:pic>
        <p:nvPicPr>
          <p:cNvPr id="7" name="Picture 6" descr="fig6_funnel_shapes_fy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82" y="1417320"/>
            <a:ext cx="10364931" cy="48005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100" b="1" dirty="0">
                <a:solidFill>
                  <a:srgbClr val="141414"/>
                </a:solidFill>
                <a:latin typeface="Inter 28pt"/>
              </a:rPr>
              <a:t>Efficiency fell as spend scaled — brand search cost/SQO doubled on ~3×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911535" cy="236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404040"/>
                </a:solidFill>
                <a:latin typeface="Inter 28pt"/>
              </a:rPr>
              <a:t>although expected, that’s undesirable and where optimization opportunities live</a:t>
            </a:r>
            <a:endParaRPr lang="en-US" sz="1400" b="0" dirty="0">
              <a:solidFill>
                <a:srgbClr val="404040"/>
              </a:solidFill>
              <a:latin typeface="Inter 28p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498D9-52CC-C40A-C36C-D976A064CC7B}"/>
              </a:ext>
            </a:extLst>
          </p:cNvPr>
          <p:cNvSpPr txBox="1"/>
          <p:nvPr/>
        </p:nvSpPr>
        <p:spPr>
          <a:xfrm>
            <a:off x="9143846" y="3085617"/>
            <a:ext cx="2917371" cy="2138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404040"/>
                </a:solidFill>
                <a:latin typeface="Inter 28pt"/>
              </a:rPr>
              <a:t>paid search's Oct-24 reach step-up: ~$32k of marginal spend per added SQO, ~4× its prior average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lang="en-US" sz="1400" dirty="0">
              <a:solidFill>
                <a:srgbClr val="404040"/>
              </a:solidFill>
              <a:latin typeface="Inter 28pt"/>
            </a:endParaRPr>
          </a:p>
          <a:p>
            <a:pPr marL="285750" indent="-285750" algn="l">
              <a:lnSpc>
                <a:spcPct val="12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404040"/>
                </a:solidFill>
                <a:latin typeface="Inter 28pt"/>
              </a:rPr>
              <a:t>higher-spend months coincide with worse cost/SQO in both channels</a:t>
            </a:r>
          </a:p>
        </p:txBody>
      </p:sp>
      <p:pic>
        <p:nvPicPr>
          <p:cNvPr id="7" name="Picture 6" descr="fig10_brand_search_sat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10" y="1549096"/>
            <a:ext cx="8730036" cy="52119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331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100" b="1" dirty="0">
                <a:solidFill>
                  <a:srgbClr val="141414"/>
                </a:solidFill>
                <a:latin typeface="Inter 28pt"/>
              </a:rPr>
              <a:t>Paid Search’s Oct-24 ramp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fig8_cost_per_sqo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911534" cy="31724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46ADCD-822E-0C24-9C8C-6232C6974EB9}"/>
              </a:ext>
            </a:extLst>
          </p:cNvPr>
          <p:cNvSpPr txBox="1"/>
          <p:nvPr/>
        </p:nvSpPr>
        <p:spPr>
          <a:xfrm>
            <a:off x="640080" y="782746"/>
            <a:ext cx="10911535" cy="23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04040"/>
                </a:solidFill>
                <a:latin typeface="Inter 28pt"/>
              </a:rPr>
              <a:t>~$32k of marginal spend per added SQO, which is substantially (~4x) higher than its prior average</a:t>
            </a:r>
            <a:endParaRPr lang="en-US" sz="1400" b="0" dirty="0">
              <a:solidFill>
                <a:srgbClr val="404040"/>
              </a:solidFill>
              <a:latin typeface="Inter 28pt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640080" y="4950000"/>
            <a:ext cx="10911535" cy="1012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2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404040"/>
                </a:solidFill>
                <a:latin typeface="Inter 28pt"/>
              </a:rPr>
              <a:t>charts show monthly average cost per attributed SQO; the ~$32k headline is the marginal cost of the step-up (Δ spend ÷ Δ added SQOs) computed, not plotted on any line</a:t>
            </a:r>
          </a:p>
          <a:p>
            <a:pPr marL="285750" indent="-285750" algn="l">
              <a:lnSpc>
                <a:spcPct val="12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r>
              <a:rPr lang="en-US" sz="1400" dirty="0">
                <a:solidFill>
                  <a:srgbClr val="404040"/>
                </a:solidFill>
                <a:latin typeface="Inter 28pt"/>
              </a:rPr>
              <a:t>Paid search’s</a:t>
            </a:r>
            <a:r>
              <a:rPr lang="en-US" sz="1400" b="0" dirty="0">
                <a:solidFill>
                  <a:srgbClr val="404040"/>
                </a:solidFill>
                <a:latin typeface="Inter 28pt"/>
              </a:rPr>
              <a:t> average rose ~$7.9k → ~$12.1k across the step-up; the marginal dollar deteriorated fastest</a:t>
            </a:r>
          </a:p>
          <a:p>
            <a:pPr marL="285750" indent="-285750" algn="l">
              <a:lnSpc>
                <a:spcPct val="12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r>
              <a:rPr lang="en-US" sz="1400" dirty="0">
                <a:solidFill>
                  <a:srgbClr val="404040"/>
                </a:solidFill>
                <a:latin typeface="Inter 28pt"/>
              </a:rPr>
              <a:t>d</a:t>
            </a:r>
            <a:r>
              <a:rPr lang="en-US" sz="1400" b="0" dirty="0">
                <a:solidFill>
                  <a:srgbClr val="404040"/>
                </a:solidFill>
                <a:latin typeface="Inter 28pt"/>
              </a:rPr>
              <a:t>isclaimer: arithmetic association, not incrementality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40080" y="384048"/>
            <a:ext cx="10911535" cy="331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100" b="1" dirty="0">
                <a:solidFill>
                  <a:srgbClr val="141414"/>
                </a:solidFill>
                <a:latin typeface="Inter 28pt"/>
              </a:rPr>
              <a:t>Zero-cost brand &amp; organic channels grew while paid efficiency fell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68680" y="5158100"/>
            <a:ext cx="10911535" cy="753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404040"/>
                </a:solidFill>
                <a:latin typeface="Inter 28pt"/>
              </a:rPr>
              <a:t>lifecycle attributed SQOs +114% YoY</a:t>
            </a:r>
          </a:p>
          <a:p>
            <a:pPr marL="285750" indent="-285750" algn="l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04040"/>
              </a:solidFill>
              <a:latin typeface="Inter 28pt"/>
            </a:endParaRPr>
          </a:p>
          <a:p>
            <a:pPr marL="285750" indent="-285750" algn="l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404040"/>
                </a:solidFill>
                <a:latin typeface="Inter 28pt"/>
              </a:rPr>
              <a:t>zero-media-cost channels hold 13.6% of FY25's attributed SQOs under a model that undercounts demand creation</a:t>
            </a:r>
          </a:p>
        </p:txBody>
      </p:sp>
      <p:pic>
        <p:nvPicPr>
          <p:cNvPr id="4" name="Picture 3" descr="fig11_brand_organic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911535" cy="33126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B71FFBC1-9EB3-A6B8-041B-7CED6E0A3CCC}"/>
              </a:ext>
            </a:extLst>
          </p:cNvPr>
          <p:cNvSpPr/>
          <p:nvPr/>
        </p:nvSpPr>
        <p:spPr>
          <a:xfrm>
            <a:off x="640080" y="1828800"/>
            <a:ext cx="1463040" cy="146304"/>
          </a:xfrm>
          <a:prstGeom prst="rect">
            <a:avLst/>
          </a:prstGeom>
          <a:solidFill>
            <a:srgbClr val="5938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CC7F7-42C5-86DF-1E37-ECB27B302CDF}"/>
              </a:ext>
            </a:extLst>
          </p:cNvPr>
          <p:cNvSpPr txBox="1"/>
          <p:nvPr/>
        </p:nvSpPr>
        <p:spPr>
          <a:xfrm>
            <a:off x="640080" y="2240280"/>
            <a:ext cx="10515600" cy="559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3600" b="1" dirty="0">
                <a:solidFill>
                  <a:srgbClr val="141414"/>
                </a:solidFill>
                <a:latin typeface="Inter 28pt"/>
              </a:rPr>
              <a:t>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A28C2-34E6-7D15-B757-A4726D92CA73}"/>
              </a:ext>
            </a:extLst>
          </p:cNvPr>
          <p:cNvSpPr txBox="1"/>
          <p:nvPr/>
        </p:nvSpPr>
        <p:spPr>
          <a:xfrm>
            <a:off x="640080" y="3017520"/>
            <a:ext cx="9601200" cy="245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500" b="0" dirty="0">
                <a:solidFill>
                  <a:srgbClr val="5938B7"/>
                </a:solidFill>
                <a:latin typeface="Inter 28pt"/>
              </a:rPr>
              <a:t>Incrementality Measurement + Budgeting Process + Tracking Cleanup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E35266-3DA1-B47A-4F06-4E29739550BF}"/>
              </a:ext>
            </a:extLst>
          </p:cNvPr>
          <p:cNvSpPr/>
          <p:nvPr/>
        </p:nvSpPr>
        <p:spPr>
          <a:xfrm>
            <a:off x="640080" y="5120640"/>
            <a:ext cx="10911535" cy="9525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331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100" b="1" dirty="0">
                <a:solidFill>
                  <a:srgbClr val="141414"/>
                </a:solidFill>
                <a:latin typeface="Inter 28pt"/>
              </a:rPr>
              <a:t>Measuring what's actually incremental through experimentation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79" y="852703"/>
            <a:ext cx="10911535" cy="495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04040"/>
                </a:solidFill>
                <a:latin typeface="Inter 28pt"/>
              </a:rPr>
              <a:t>brand search's efficiency is the least trustworthy number here (demand harvesting + the largest win-rate jump); MTA-based credit likely understates the zero-cost channels that create the demand it captures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36914"/>
            <a:ext cx="6686006" cy="4386943"/>
          </a:xfrm>
          <a:prstGeom prst="rect">
            <a:avLst/>
          </a:prstGeom>
          <a:solidFill>
            <a:srgbClr val="F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87255" y="1597152"/>
            <a:ext cx="6345936" cy="245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500" b="1" dirty="0">
                <a:solidFill>
                  <a:srgbClr val="5938B7"/>
                </a:solidFill>
                <a:latin typeface="Inter 28pt"/>
              </a:rPr>
              <a:t>Geo-holdout: pricing brand search incrementality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255" y="2100072"/>
            <a:ext cx="6345936" cy="363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Pause paid_brand_search in matched geo markets covering ~20% of spend</a:t>
            </a:r>
          </a:p>
          <a:p>
            <a:pPr marL="285750" indent="-285750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12 weeks (2-week burn-in — assumed </a:t>
            </a:r>
            <a:r>
              <a:rPr lang="en-US" sz="1400" b="0" dirty="0" err="1">
                <a:solidFill>
                  <a:srgbClr val="141414"/>
                </a:solidFill>
                <a:latin typeface="Inter 28pt"/>
              </a:rPr>
              <a:t>click→SQO</a:t>
            </a:r>
            <a:r>
              <a:rPr lang="en-US" sz="1400" b="0" dirty="0">
                <a:solidFill>
                  <a:srgbClr val="141414"/>
                </a:solidFill>
                <a:latin typeface="Inter 28pt"/>
              </a:rPr>
              <a:t> lag, validated in-flight; 10-week read; 12-month pre-period for matching)</a:t>
            </a:r>
          </a:p>
          <a:p>
            <a:pPr marL="285750" indent="-285750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Primary metric: TOTAL SQOs per geo — never attributed SQOs; an attribution model cannot audit itself</a:t>
            </a:r>
          </a:p>
          <a:p>
            <a:pPr marL="285750" indent="-285750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Readout: matched-market / synthetic-control estimate (</a:t>
            </a:r>
            <a:r>
              <a:rPr lang="en-US" sz="1400" b="0" dirty="0" err="1">
                <a:solidFill>
                  <a:srgbClr val="141414"/>
                </a:solidFill>
                <a:latin typeface="Inter 28pt"/>
              </a:rPr>
              <a:t>CausalImpact</a:t>
            </a:r>
            <a:r>
              <a:rPr lang="en-US" sz="1400" b="0" dirty="0">
                <a:solidFill>
                  <a:srgbClr val="141414"/>
                </a:solidFill>
                <a:latin typeface="Inter 28pt"/>
              </a:rPr>
              <a:t>-style)</a:t>
            </a:r>
          </a:p>
          <a:p>
            <a:pPr marL="285750" indent="-285750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Decision rule: </a:t>
            </a:r>
          </a:p>
          <a:p>
            <a:pPr marL="742950" lvl="1" indent="-285750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incremental cost/SQO &gt; 2× the attributed $7.2k → cap and reallocate</a:t>
            </a:r>
          </a:p>
          <a:p>
            <a:pPr marL="742950" lvl="1" indent="-285750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below → scale with confidence</a:t>
            </a:r>
          </a:p>
          <a:p>
            <a:pPr marL="285750" indent="-285750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dirty="0">
                <a:solidFill>
                  <a:srgbClr val="141414"/>
                </a:solidFill>
                <a:latin typeface="Inter 28pt"/>
              </a:rPr>
              <a:t>Sized to separate “mostly incremental” from “mostly harvested”, not to estimate precise lift</a:t>
            </a:r>
          </a:p>
        </p:txBody>
      </p:sp>
      <p:pic>
        <p:nvPicPr>
          <p:cNvPr id="7" name="Picture 6" descr="illus_geo_ho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600200"/>
            <a:ext cx="3794760" cy="3695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59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2200" b="1" dirty="0">
                <a:solidFill>
                  <a:srgbClr val="141414"/>
                </a:solidFill>
                <a:latin typeface="Inter 28pt"/>
              </a:rPr>
              <a:t>MMM prices the marginal dollar; experiments keep it honest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8051" y="1525432"/>
            <a:ext cx="6858000" cy="4800600"/>
          </a:xfrm>
          <a:prstGeom prst="rect">
            <a:avLst/>
          </a:prstGeom>
          <a:solidFill>
            <a:srgbClr val="F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5000"/>
              </a:lnSpc>
            </a:pPr>
            <a:endParaRPr lang="en-US" b="1" dirty="0">
              <a:solidFill>
                <a:srgbClr val="5938B7"/>
              </a:solidFill>
              <a:latin typeface="Inter 28p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867442"/>
            <a:ext cx="6345936" cy="3922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endParaRPr lang="en-US" sz="1400" dirty="0">
              <a:solidFill>
                <a:srgbClr val="141414"/>
              </a:solidFill>
              <a:latin typeface="Inter 28pt"/>
            </a:endParaR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lang="en-US" sz="1400" dirty="0">
                <a:solidFill>
                  <a:srgbClr val="141414"/>
                </a:solidFill>
                <a:latin typeface="Inter 28pt"/>
              </a:rPr>
              <a:t>Start with a one-off MMM, then make it a permanent monthly budget-allocation tool:</a:t>
            </a:r>
          </a:p>
          <a:p>
            <a:pPr marL="285750" indent="-285750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dirty="0">
                <a:solidFill>
                  <a:srgbClr val="141414"/>
                </a:solidFill>
                <a:latin typeface="Inter 28pt"/>
              </a:rPr>
              <a:t>Provides budget-allocation insights through the </a:t>
            </a:r>
            <a:r>
              <a:rPr lang="en-US" sz="1400" b="0" dirty="0">
                <a:solidFill>
                  <a:srgbClr val="141414"/>
                </a:solidFill>
                <a:latin typeface="Inter 28pt"/>
              </a:rPr>
              <a:t>capture of media saturation and cross-channel effects</a:t>
            </a:r>
            <a:r>
              <a:rPr lang="en-US" sz="1400" dirty="0">
                <a:solidFill>
                  <a:srgbClr val="141414"/>
                </a:solidFill>
                <a:latin typeface="Inter 28pt"/>
              </a:rPr>
              <a:t> while having </a:t>
            </a:r>
            <a:r>
              <a:rPr lang="en-US" sz="1400" b="0" dirty="0">
                <a:solidFill>
                  <a:srgbClr val="141414"/>
                </a:solidFill>
                <a:latin typeface="Inter 28pt"/>
              </a:rPr>
              <a:t>robustness to tracking loss &amp; attribution model changes</a:t>
            </a:r>
          </a:p>
          <a:p>
            <a:pPr marL="285750" indent="-285750" algn="l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Inputs exist today with two full years of daily spend and outcomes</a:t>
            </a:r>
          </a:p>
          <a:p>
            <a:pPr marL="742950" lvl="1" indent="-285750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dirty="0">
                <a:solidFill>
                  <a:srgbClr val="141414"/>
                </a:solidFill>
                <a:latin typeface="Inter 28pt"/>
              </a:rPr>
              <a:t>p</a:t>
            </a:r>
            <a:r>
              <a:rPr lang="en-US" sz="1400" b="0" dirty="0">
                <a:solidFill>
                  <a:srgbClr val="141414"/>
                </a:solidFill>
                <a:latin typeface="Inter 28pt"/>
              </a:rPr>
              <a:t>lumbing the data is</a:t>
            </a:r>
            <a:r>
              <a:rPr lang="en-US" sz="1400" dirty="0">
                <a:solidFill>
                  <a:srgbClr val="141414"/>
                </a:solidFill>
                <a:latin typeface="Inter 28pt"/>
              </a:rPr>
              <a:t>, </a:t>
            </a:r>
            <a:r>
              <a:rPr lang="en-US" sz="1400" b="0" dirty="0">
                <a:solidFill>
                  <a:srgbClr val="141414"/>
                </a:solidFill>
                <a:latin typeface="Inter 28pt"/>
              </a:rPr>
              <a:t>nevertheless, usually challenging</a:t>
            </a:r>
          </a:p>
          <a:p>
            <a:pPr marL="285750" indent="-285750" algn="l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Expect wide intervals at this program count — MMM for direction, experiments for the price</a:t>
            </a:r>
          </a:p>
          <a:p>
            <a:pPr marL="742950" lvl="1" indent="-285750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holdout results calibrate the model rather than compete with it</a:t>
            </a:r>
          </a:p>
          <a:p>
            <a:pPr marL="285750" indent="-285750" algn="l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Once properly set up it can be used on a monthly-basis for simulating the likely effects of changes in the budget, promotions or channel mix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5C65E-910D-6616-1680-BAA77CBDBC0D}"/>
              </a:ext>
            </a:extLst>
          </p:cNvPr>
          <p:cNvSpPr txBox="1"/>
          <p:nvPr/>
        </p:nvSpPr>
        <p:spPr>
          <a:xfrm>
            <a:off x="640079" y="976792"/>
            <a:ext cx="10911535" cy="495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04040"/>
                </a:solidFill>
                <a:latin typeface="Inter 28pt"/>
              </a:rPr>
              <a:t>Attribution assigns credit to touchpoints but is not the right tool to find the marginal dollar per channel. Experiments answer single questions precisely while MMM generalizes them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FCA2A5-CAD7-7377-E6F8-56AE005DE91E}"/>
              </a:ext>
            </a:extLst>
          </p:cNvPr>
          <p:cNvSpPr txBox="1"/>
          <p:nvPr/>
        </p:nvSpPr>
        <p:spPr>
          <a:xfrm>
            <a:off x="738051" y="1674216"/>
            <a:ext cx="7132320" cy="386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b="1" dirty="0">
                <a:solidFill>
                  <a:srgbClr val="5938B7"/>
                </a:solidFill>
                <a:latin typeface="Inter 28pt"/>
              </a:rPr>
              <a:t>MMM Prices the marginal </a:t>
            </a:r>
            <a:r>
              <a:rPr lang="en-US" b="1" dirty="0" err="1">
                <a:solidFill>
                  <a:srgbClr val="5938B7"/>
                </a:solidFill>
                <a:latin typeface="Inter 28pt"/>
              </a:rPr>
              <a:t>dollar</a:t>
            </a:r>
            <a:r>
              <a:rPr lang="en-US" b="1" dirty="0">
                <a:solidFill>
                  <a:srgbClr val="5938B7"/>
                </a:solidFill>
                <a:latin typeface="Inter 28pt"/>
              </a:rPr>
              <a:t> per channel </a:t>
            </a:r>
            <a:endParaRPr lang="en-US" sz="1800" b="1" dirty="0">
              <a:solidFill>
                <a:srgbClr val="5938B7"/>
              </a:solidFill>
              <a:latin typeface="Inter 28pt"/>
            </a:endParaRPr>
          </a:p>
        </p:txBody>
      </p:sp>
      <p:pic>
        <p:nvPicPr>
          <p:cNvPr id="8" name="Picture 7" descr="illus_m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828800"/>
            <a:ext cx="3794760" cy="3143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59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2200" b="1" dirty="0">
                <a:solidFill>
                  <a:srgbClr val="141414"/>
                </a:solidFill>
                <a:latin typeface="Inter 28pt"/>
              </a:rPr>
              <a:t>Historical trends aren't trustworthy until these tracking debts are cleared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00200"/>
            <a:ext cx="6858000" cy="4800600"/>
          </a:xfrm>
          <a:prstGeom prst="rect">
            <a:avLst/>
          </a:prstGeom>
          <a:solidFill>
            <a:srgbClr val="F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96112" y="2521232"/>
            <a:ext cx="6345936" cy="2915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Having the historical data right </a:t>
            </a:r>
            <a:r>
              <a:rPr lang="en-US" sz="1400" dirty="0">
                <a:solidFill>
                  <a:srgbClr val="141414"/>
                </a:solidFill>
                <a:latin typeface="Inter 28pt"/>
              </a:rPr>
              <a:t>(or having a documented explanation on why it isn’t) is a fundamental part of the roadmap.</a:t>
            </a:r>
          </a:p>
          <a:p>
            <a:pPr marL="285750" indent="-285750" algn="l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MQP capture starts Feb-24 so it is necessary to have documented definitions and backfill or fence historical reporting.</a:t>
            </a:r>
          </a:p>
          <a:p>
            <a:pPr marL="285750" indent="-285750" algn="l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Website demo definition shifted Nov-23 and reconciliation must happen before any trend crossing that date is trusted.</a:t>
            </a:r>
          </a:p>
          <a:p>
            <a:pPr marL="285750" indent="-285750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dirty="0">
                <a:solidFill>
                  <a:srgbClr val="141414"/>
                </a:solidFill>
                <a:latin typeface="Inter 28pt"/>
              </a:rPr>
              <a:t>Enforcing daily-grain delivery contracts on v</a:t>
            </a:r>
            <a:r>
              <a:rPr lang="en-US" sz="1400" b="0" dirty="0">
                <a:solidFill>
                  <a:srgbClr val="141414"/>
                </a:solidFill>
                <a:latin typeface="Inter 28pt"/>
              </a:rPr>
              <a:t>endor click batch-dumps (e.g. </a:t>
            </a:r>
            <a:r>
              <a:rPr lang="en-US" sz="1400" b="0" dirty="0" err="1">
                <a:solidFill>
                  <a:srgbClr val="141414"/>
                </a:solidFill>
                <a:latin typeface="Inter 28pt"/>
              </a:rPr>
              <a:t>abm</a:t>
            </a:r>
            <a:r>
              <a:rPr lang="en-US" sz="1400" b="0" dirty="0">
                <a:solidFill>
                  <a:srgbClr val="141414"/>
                </a:solidFill>
                <a:latin typeface="Inter 28pt"/>
              </a:rPr>
              <a:t>, sponsorship)</a:t>
            </a:r>
          </a:p>
          <a:p>
            <a:pPr marL="285750" indent="-285750" algn="l">
              <a:lnSpc>
                <a:spcPct val="132000"/>
              </a:lnSpc>
              <a:spcAft>
                <a:spcPts val="600"/>
              </a:spcAft>
              <a:buFont typeface="Inter 28pt" panose="020B0604020202020204" pitchFamily="34" charset="0"/>
              <a:buChar char="•"/>
            </a:pPr>
            <a:r>
              <a:rPr lang="en-US" sz="1400" dirty="0">
                <a:solidFill>
                  <a:srgbClr val="141414"/>
                </a:solidFill>
                <a:latin typeface="Inter 28pt"/>
              </a:rPr>
              <a:t>Define metrics in the semantic layer (dbt/Looker) and version tracking history, so future reporting inherits definitions instead of rediscovering these bugs</a:t>
            </a:r>
            <a:endParaRPr lang="en-US" sz="1400" b="0" dirty="0">
              <a:solidFill>
                <a:srgbClr val="141414"/>
              </a:solidFill>
              <a:latin typeface="Inter 28p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5E33E-FE68-575E-41FD-60BFB3898E0A}"/>
              </a:ext>
            </a:extLst>
          </p:cNvPr>
          <p:cNvSpPr txBox="1"/>
          <p:nvPr/>
        </p:nvSpPr>
        <p:spPr>
          <a:xfrm>
            <a:off x="640079" y="976792"/>
            <a:ext cx="10911535" cy="23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04040"/>
                </a:solidFill>
                <a:latin typeface="Inter 28pt"/>
              </a:rPr>
              <a:t>because a good analysis starts with trustworthy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06E72A-C75B-A0E5-0517-4C3F2F939AFF}"/>
              </a:ext>
            </a:extLst>
          </p:cNvPr>
          <p:cNvSpPr txBox="1"/>
          <p:nvPr/>
        </p:nvSpPr>
        <p:spPr>
          <a:xfrm>
            <a:off x="738051" y="1674216"/>
            <a:ext cx="7132320" cy="386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b="1" dirty="0">
                <a:solidFill>
                  <a:srgbClr val="5938B7"/>
                </a:solidFill>
                <a:latin typeface="Inter 28pt"/>
              </a:rPr>
              <a:t>Garbage in, garbage out</a:t>
            </a:r>
            <a:endParaRPr lang="en-US" sz="1800" b="1" dirty="0">
              <a:solidFill>
                <a:srgbClr val="5938B7"/>
              </a:solidFill>
              <a:latin typeface="Inter 28pt"/>
            </a:endParaRPr>
          </a:p>
        </p:txBody>
      </p:sp>
      <p:pic>
        <p:nvPicPr>
          <p:cNvPr id="7" name="Picture 6" descr="illus_tracking_deb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463040"/>
            <a:ext cx="3794760" cy="45076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92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2400" b="1" dirty="0">
                <a:solidFill>
                  <a:srgbClr val="141414"/>
                </a:solidFill>
                <a:latin typeface="Inter 28pt"/>
              </a:rPr>
              <a:t>Stakeholder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349240" cy="4892040"/>
          </a:xfrm>
          <a:prstGeom prst="rect">
            <a:avLst/>
          </a:prstGeom>
          <a:solidFill>
            <a:srgbClr val="F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4892040" cy="2614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5938B7"/>
                </a:solidFill>
                <a:latin typeface="Inter 28pt"/>
              </a:rPr>
              <a:t>Paid Marketing Director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157984"/>
            <a:ext cx="4892040" cy="9525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2123755"/>
            <a:ext cx="4892040" cy="41740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3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Search and brand search hold 81% of FY25's growth in attributed “Wins”</a:t>
            </a:r>
          </a:p>
          <a:p>
            <a:pPr marL="285750" indent="-285750" algn="l">
              <a:lnSpc>
                <a:spcPct val="13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The risk is rising marginal cost</a:t>
            </a:r>
            <a:endParaRPr lang="en-US" sz="1400" dirty="0">
              <a:solidFill>
                <a:srgbClr val="141414"/>
              </a:solidFill>
              <a:latin typeface="Inter 28pt"/>
            </a:endParaRPr>
          </a:p>
          <a:p>
            <a:pPr marL="742950" lvl="1" indent="-285750">
              <a:lnSpc>
                <a:spcPct val="130000"/>
              </a:lnSpc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brand search cost/SQO doubled on ~3× spend</a:t>
            </a:r>
            <a:endParaRPr lang="en-US" sz="1400" dirty="0">
              <a:solidFill>
                <a:srgbClr val="141414"/>
              </a:solidFill>
              <a:latin typeface="Inter 28pt"/>
            </a:endParaRPr>
          </a:p>
          <a:p>
            <a:pPr marL="742950" lvl="1" indent="-285750">
              <a:lnSpc>
                <a:spcPct val="130000"/>
              </a:lnSpc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Oct-24 reach expansion bought SQOs at ~4× the prior rate</a:t>
            </a:r>
            <a:endParaRPr lang="en-US" sz="1400" dirty="0">
              <a:solidFill>
                <a:srgbClr val="141414"/>
              </a:solidFill>
              <a:latin typeface="Inter 28pt"/>
            </a:endParaRPr>
          </a:p>
          <a:p>
            <a:pPr marL="742950" lvl="1" indent="-285750">
              <a:lnSpc>
                <a:spcPct val="130000"/>
              </a:lnSpc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the holdout test (</a:t>
            </a:r>
            <a:r>
              <a:rPr lang="en-US" sz="1400" dirty="0">
                <a:solidFill>
                  <a:srgbClr val="141414"/>
                </a:solidFill>
                <a:latin typeface="Inter 28pt"/>
              </a:rPr>
              <a:t>potentially funded by budget holds) </a:t>
            </a:r>
            <a:r>
              <a:rPr lang="en-US" sz="1400" b="0" dirty="0">
                <a:solidFill>
                  <a:srgbClr val="141414"/>
                </a:solidFill>
                <a:latin typeface="Inter 28pt"/>
              </a:rPr>
              <a:t>shows within a quarter which spend is incremental.</a:t>
            </a:r>
          </a:p>
          <a:p>
            <a:pPr marL="285750" indent="-285750" algn="l">
              <a:lnSpc>
                <a:spcPct val="13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Until the roadmap rollout: </a:t>
            </a:r>
          </a:p>
          <a:p>
            <a:pPr marL="742950" lvl="1" indent="-285750">
              <a:lnSpc>
                <a:spcPct val="130000"/>
              </a:lnSpc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reduce </a:t>
            </a:r>
            <a:r>
              <a:rPr lang="en-US" sz="1400" dirty="0">
                <a:solidFill>
                  <a:srgbClr val="141414"/>
                </a:solidFill>
                <a:latin typeface="Inter 28pt"/>
              </a:rPr>
              <a:t>paid search</a:t>
            </a:r>
            <a:r>
              <a:rPr lang="en-US" sz="1400" b="0" dirty="0">
                <a:solidFill>
                  <a:srgbClr val="141414"/>
                </a:solidFill>
                <a:latin typeface="Inter 28pt"/>
              </a:rPr>
              <a:t> back to pre-Oct-24</a:t>
            </a:r>
            <a:endParaRPr lang="en-US" sz="1400" dirty="0">
              <a:solidFill>
                <a:srgbClr val="141414"/>
              </a:solidFill>
              <a:latin typeface="Inter 28pt"/>
            </a:endParaRPr>
          </a:p>
          <a:p>
            <a:pPr marL="742950" lvl="1" indent="-285750">
              <a:lnSpc>
                <a:spcPct val="130000"/>
              </a:lnSpc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hold brand search</a:t>
            </a:r>
          </a:p>
          <a:p>
            <a:pPr marL="742950" lvl="1" indent="-285750">
              <a:lnSpc>
                <a:spcPct val="130000"/>
              </a:lnSpc>
              <a:buFont typeface="Inter 28pt" panose="020B0604020202020204" pitchFamily="34" charset="0"/>
              <a:buChar char="•"/>
            </a:pPr>
            <a:r>
              <a:rPr lang="en-US" sz="1400" dirty="0">
                <a:solidFill>
                  <a:srgbClr val="141414"/>
                </a:solidFill>
                <a:latin typeface="Inter 28pt"/>
              </a:rPr>
              <a:t>hold paid social</a:t>
            </a:r>
            <a:endParaRPr lang="en-US" sz="1400" b="0" dirty="0">
              <a:solidFill>
                <a:srgbClr val="141414"/>
              </a:solidFill>
              <a:latin typeface="Inter 28pt"/>
            </a:endParaRPr>
          </a:p>
          <a:p>
            <a:pPr marL="285750" indent="-285750" algn="l">
              <a:lnSpc>
                <a:spcPct val="13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In </a:t>
            </a:r>
            <a:r>
              <a:rPr lang="en-US" sz="1400" dirty="0">
                <a:solidFill>
                  <a:srgbClr val="141414"/>
                </a:solidFill>
                <a:latin typeface="Inter 28pt"/>
              </a:rPr>
              <a:t>2</a:t>
            </a:r>
            <a:r>
              <a:rPr lang="en-US" sz="1400" b="0" dirty="0">
                <a:solidFill>
                  <a:srgbClr val="141414"/>
                </a:solidFill>
                <a:latin typeface="Inter 28pt"/>
              </a:rPr>
              <a:t>–3 months: </a:t>
            </a:r>
          </a:p>
          <a:p>
            <a:pPr marL="742950" lvl="1" indent="-285750">
              <a:lnSpc>
                <a:spcPct val="130000"/>
              </a:lnSpc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test live, first readout, marginal-cost view in the pacing dashboards.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463040"/>
            <a:ext cx="5349240" cy="4892040"/>
          </a:xfrm>
          <a:prstGeom prst="rect">
            <a:avLst/>
          </a:prstGeom>
          <a:solidFill>
            <a:srgbClr val="F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428232" y="1691640"/>
            <a:ext cx="4892040" cy="2614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5938B7"/>
                </a:solidFill>
                <a:latin typeface="Inter 28pt"/>
              </a:rPr>
              <a:t>Head of Marketing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28232" y="2157984"/>
            <a:ext cx="4892040" cy="9525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28232" y="2331720"/>
            <a:ext cx="4892040" cy="3333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3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Zero-media-cost channels hold 13.6% of attributed SQOs and lifecycle +114% </a:t>
            </a:r>
          </a:p>
          <a:p>
            <a:pPr marL="742950" lvl="1" indent="-285750">
              <a:lnSpc>
                <a:spcPct val="130000"/>
              </a:lnSpc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under a model that structurally undercounts demand creation. </a:t>
            </a:r>
          </a:p>
          <a:p>
            <a:pPr marL="285750" indent="-285750" algn="l">
              <a:lnSpc>
                <a:spcPct val="13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If brand search harvests, your channels create what it captures. </a:t>
            </a:r>
          </a:p>
          <a:p>
            <a:pPr marL="285750" indent="-285750" algn="l">
              <a:lnSpc>
                <a:spcPct val="130000"/>
              </a:lnSpc>
              <a:spcAft>
                <a:spcPts val="0"/>
              </a:spcAft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The measurement plan shines a light on that: </a:t>
            </a:r>
          </a:p>
          <a:p>
            <a:pPr marL="742950" lvl="1" indent="-285750">
              <a:lnSpc>
                <a:spcPct val="130000"/>
              </a:lnSpc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leading indicators (branded search volume, direct traffic, unattributed demos) within weeks</a:t>
            </a:r>
            <a:endParaRPr lang="en-US" sz="1400" dirty="0">
              <a:solidFill>
                <a:srgbClr val="141414"/>
              </a:solidFill>
              <a:latin typeface="Inter 28pt"/>
            </a:endParaRPr>
          </a:p>
          <a:p>
            <a:pPr marL="742950" lvl="1" indent="-285750">
              <a:lnSpc>
                <a:spcPct val="130000"/>
              </a:lnSpc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geo-lift on any brand increase</a:t>
            </a:r>
            <a:endParaRPr lang="en-US" sz="1400" dirty="0">
              <a:solidFill>
                <a:srgbClr val="141414"/>
              </a:solidFill>
              <a:latin typeface="Inter 28pt"/>
            </a:endParaRPr>
          </a:p>
          <a:p>
            <a:pPr marL="742950" lvl="1" indent="-285750">
              <a:lnSpc>
                <a:spcPct val="130000"/>
              </a:lnSpc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MMM for the full picture. </a:t>
            </a:r>
          </a:p>
          <a:p>
            <a:pPr marL="742950" lvl="1" indent="-285750">
              <a:lnSpc>
                <a:spcPct val="130000"/>
              </a:lnSpc>
              <a:buFont typeface="Inter 28pt" panose="020B0604020202020204" pitchFamily="34" charset="0"/>
              <a:buChar char="•"/>
            </a:pPr>
            <a:r>
              <a:rPr lang="en-US" sz="1400" b="0" dirty="0">
                <a:solidFill>
                  <a:srgbClr val="141414"/>
                </a:solidFill>
                <a:latin typeface="Inter 28pt"/>
              </a:rPr>
              <a:t>In </a:t>
            </a:r>
            <a:r>
              <a:rPr lang="en-US" sz="1400" dirty="0">
                <a:solidFill>
                  <a:srgbClr val="141414"/>
                </a:solidFill>
                <a:latin typeface="Inter 28pt"/>
              </a:rPr>
              <a:t>2</a:t>
            </a:r>
            <a:r>
              <a:rPr lang="en-US" sz="1400" b="0" dirty="0">
                <a:solidFill>
                  <a:srgbClr val="141414"/>
                </a:solidFill>
                <a:latin typeface="Inter 28pt"/>
              </a:rPr>
              <a:t>–3 months there will be a live baseline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286000"/>
            <a:ext cx="1463040" cy="146304"/>
          </a:xfrm>
          <a:prstGeom prst="rect">
            <a:avLst/>
          </a:prstGeom>
          <a:solidFill>
            <a:srgbClr val="FFC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269748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3600" b="1" dirty="0">
                <a:solidFill>
                  <a:srgbClr val="141414"/>
                </a:solidFill>
                <a:latin typeface="Inter 28pt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9476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400" b="0" dirty="0">
                <a:solidFill>
                  <a:srgbClr val="404040"/>
                </a:solidFill>
                <a:latin typeface="Inter 28pt"/>
              </a:rPr>
              <a:t>Paulo Muzyczuk · </a:t>
            </a:r>
            <a:r>
              <a:rPr lang="en-US" sz="1400" b="0" dirty="0" err="1">
                <a:solidFill>
                  <a:srgbClr val="404040"/>
                </a:solidFill>
                <a:latin typeface="Inter 28pt"/>
              </a:rPr>
              <a:t>laracruz.paulo@gmail.com</a:t>
            </a:r>
            <a:endParaRPr lang="en-US" sz="1400" b="0" dirty="0">
              <a:solidFill>
                <a:srgbClr val="404040"/>
              </a:solidFill>
              <a:latin typeface="Inter 28p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141414"/>
                </a:solidFill>
                <a:latin typeface="Inter 28pt"/>
              </a:rPr>
              <a:t>FY24 vs FY25 by fiscal month: demo requests, SQO, won</a:t>
            </a:r>
          </a:p>
        </p:txBody>
      </p:sp>
      <p:pic>
        <p:nvPicPr>
          <p:cNvPr id="4" name="Picture 3" descr="fig2_yoy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911535" cy="32346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141414"/>
                </a:solidFill>
                <a:latin typeface="Inter 28pt"/>
              </a:rPr>
              <a:t>Day-of-week profile: mean daily volume as % of the Mon–Fri average</a:t>
            </a:r>
          </a:p>
        </p:txBody>
      </p:sp>
      <p:pic>
        <p:nvPicPr>
          <p:cNvPr id="4" name="Picture 3" descr="fig4_day_of_week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876" y="1325880"/>
            <a:ext cx="1020394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141414"/>
                </a:solidFill>
                <a:latin typeface="Inter 28pt"/>
              </a:rPr>
              <a:t>Seasonal patterns vs one-year swings: the both-years rule applied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141414"/>
                </a:solidFill>
                <a:latin typeface="Inter 28pt"/>
              </a:rPr>
              <a:t>December dip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50876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recurring seasonal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150876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404040"/>
                </a:solidFill>
                <a:latin typeface="Inter 28pt"/>
              </a:rPr>
              <a:t>demo −30%/−14%, SQO −44%/−11% vs centered rolling mean, both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7568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141414"/>
                </a:solidFill>
                <a:latin typeface="Inter 28pt"/>
              </a:rPr>
              <a:t>October lift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07568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recurring seasonal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2075688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404040"/>
                </a:solidFill>
                <a:latin typeface="Inter 28pt"/>
              </a:rPr>
              <a:t>demo +18%/+18%, won +10%/+12%, both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4261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141414"/>
                </a:solidFill>
                <a:latin typeface="Inter 28pt"/>
              </a:rPr>
              <a:t>January restart dip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642616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recurring seasonal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642616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404040"/>
                </a:solidFill>
                <a:latin typeface="Inter 28pt"/>
              </a:rPr>
              <a:t>prospects −23%/−40%, demo −9%/−6%, both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954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141414"/>
                </a:solidFill>
                <a:latin typeface="Inter 28pt"/>
              </a:rPr>
              <a:t>May–June prospects 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209544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recurring seasonal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209544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404040"/>
                </a:solidFill>
                <a:latin typeface="Inter 28pt"/>
              </a:rPr>
              <a:t>May +28%/+6%, Jun +17%/+26%, both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7647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141414"/>
                </a:solidFill>
                <a:latin typeface="Inter 28pt"/>
              </a:rPr>
              <a:t>Jan-24 </a:t>
            </a:r>
            <a:r>
              <a:rPr lang="en-US" sz="1300" b="1" dirty="0" err="1">
                <a:solidFill>
                  <a:srgbClr val="141414"/>
                </a:solidFill>
                <a:latin typeface="Inter 28pt"/>
              </a:rPr>
              <a:t>paid_social</a:t>
            </a:r>
            <a:r>
              <a:rPr lang="en-US" sz="1300" b="1" dirty="0">
                <a:solidFill>
                  <a:srgbClr val="141414"/>
                </a:solidFill>
                <a:latin typeface="Inter 28pt"/>
              </a:rPr>
              <a:t> delivery burst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776472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one-off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776472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404040"/>
                </a:solidFill>
                <a:latin typeface="Inter 28pt"/>
              </a:rPr>
              <a:t>impressions 5.3× and clicks 7.5× vs Dec-23 on cost +94%; CTR 2–3× norm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4340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141414"/>
                </a:solidFill>
                <a:latin typeface="Inter 28pt"/>
              </a:rPr>
              <a:t>Jul-24 event burst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34340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one-off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34340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404040"/>
                </a:solidFill>
                <a:latin typeface="Inter 28pt"/>
              </a:rPr>
              <a:t>prospects +40% vs rolling mean; single-day event MQP spike 957× median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1032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141414"/>
                </a:solidFill>
                <a:latin typeface="Inter 28pt"/>
              </a:rPr>
              <a:t>Dec-24 Won spike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91032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one-off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4910328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404040"/>
                </a:solidFill>
                <a:latin typeface="Inter 28pt"/>
              </a:rPr>
              <a:t>+29% vs rolling mean; Dec-23 was −34%, failing the both-years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7725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300" b="1" dirty="0" err="1">
                <a:solidFill>
                  <a:srgbClr val="141414"/>
                </a:solidFill>
                <a:latin typeface="Inter 28pt"/>
              </a:rPr>
              <a:t>paid_awareness</a:t>
            </a:r>
            <a:r>
              <a:rPr lang="en-US" sz="1300" b="1" dirty="0">
                <a:solidFill>
                  <a:srgbClr val="141414"/>
                </a:solidFill>
                <a:latin typeface="Inter 28pt"/>
              </a:rPr>
              <a:t> Mar-25 ramp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477256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one-off event (flight)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5477256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404040"/>
                </a:solidFill>
                <a:latin typeface="Inter 28pt"/>
              </a:rPr>
              <a:t>monthly spend ~$133k → ~$1.1M from Mar-25; program is flighted by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404040"/>
                </a:solidFill>
                <a:latin typeface="Inter 28pt"/>
              </a:rPr>
              <a:t>Seasonal = same-direction deviation from a centered 12-month rolling mean in BOTH fiscal years (|dev| &gt; 5%). Full 16-row table with hypotheses and confirming evidence: task 1 notebook. Tracking artifacts (MQP start, website Nov-23, click dumps): slide 11.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141414"/>
                </a:solidFill>
                <a:latin typeface="Inter 28pt"/>
              </a:rPr>
              <a:t>Channel rate trends: CTR, </a:t>
            </a:r>
            <a:r>
              <a:rPr lang="en-US" sz="1800" b="1" dirty="0" err="1">
                <a:solidFill>
                  <a:srgbClr val="141414"/>
                </a:solidFill>
                <a:latin typeface="Inter 28pt"/>
              </a:rPr>
              <a:t>click→demo</a:t>
            </a:r>
            <a:r>
              <a:rPr lang="en-US" sz="1800" b="1" dirty="0">
                <a:solidFill>
                  <a:srgbClr val="141414"/>
                </a:solidFill>
                <a:latin typeface="Inter 28pt"/>
              </a:rPr>
              <a:t>, </a:t>
            </a:r>
            <a:r>
              <a:rPr lang="en-US" sz="1800" b="1" dirty="0" err="1">
                <a:solidFill>
                  <a:srgbClr val="141414"/>
                </a:solidFill>
                <a:latin typeface="Inter 28pt"/>
              </a:rPr>
              <a:t>demo→SQO</a:t>
            </a:r>
            <a:r>
              <a:rPr lang="en-US" sz="1800" b="1" dirty="0">
                <a:solidFill>
                  <a:srgbClr val="141414"/>
                </a:solidFill>
                <a:latin typeface="Inter 28pt"/>
              </a:rPr>
              <a:t> (monthly)</a:t>
            </a:r>
          </a:p>
        </p:txBody>
      </p:sp>
      <p:pic>
        <p:nvPicPr>
          <p:cNvPr id="4" name="Picture 3" descr="fig5_channel_rate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911535" cy="35538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 err="1">
                <a:solidFill>
                  <a:srgbClr val="141414"/>
                </a:solidFill>
                <a:latin typeface="Inter 28pt"/>
              </a:rPr>
              <a:t>SQO→Won</a:t>
            </a:r>
            <a:r>
              <a:rPr lang="en-US" sz="1800" b="1" dirty="0">
                <a:solidFill>
                  <a:srgbClr val="141414"/>
                </a:solidFill>
                <a:latin typeface="Inter 28pt"/>
              </a:rPr>
              <a:t> by program: FY24 vs FY25 (≥100 attributed SQO in both years)</a:t>
            </a:r>
          </a:p>
        </p:txBody>
      </p:sp>
      <p:pic>
        <p:nvPicPr>
          <p:cNvPr id="4" name="Picture 3" descr="fig7_sqo_won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98" y="1325880"/>
            <a:ext cx="8848699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141414"/>
                </a:solidFill>
                <a:latin typeface="Inter 28pt"/>
              </a:rPr>
              <a:t>Monthly spend vs cost per attributed SQO: points + spend-tercile aggregates</a:t>
            </a:r>
          </a:p>
        </p:txBody>
      </p:sp>
      <p:pic>
        <p:nvPicPr>
          <p:cNvPr id="4" name="Picture 3" descr="fig9_diminishing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911535" cy="34770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00" b="0" dirty="0">
                <a:solidFill>
                  <a:srgbClr val="404040"/>
                </a:solidFill>
                <a:latin typeface="Inter 28pt"/>
              </a:rPr>
              <a:t>Association under scaling, not a causal response curve; seasonality, mix and auction conditions unmodeled.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141414"/>
                </a:solidFill>
                <a:latin typeface="Inter 28pt"/>
              </a:rPr>
              <a:t>Brand/organic attributed demo &amp; SQO, indexed to FY24 average = 100; website carries the Nov-23 tracking caveat</a:t>
            </a:r>
          </a:p>
        </p:txBody>
      </p:sp>
      <p:pic>
        <p:nvPicPr>
          <p:cNvPr id="4" name="Picture 3" descr="fig11_brand_organic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911535" cy="331266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5938B7"/>
                </a:solidFill>
                <a:latin typeface="Inter 28pt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141414"/>
                </a:solidFill>
                <a:latin typeface="Inter 28pt"/>
              </a:rPr>
              <a:t>Methodology &amp; caveats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28016" cy="128016"/>
          </a:xfrm>
          <a:prstGeom prst="rect">
            <a:avLst/>
          </a:prstGeom>
          <a:solidFill>
            <a:srgbClr val="5938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87552" y="141732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300" b="0" dirty="0">
                <a:solidFill>
                  <a:srgbClr val="141414"/>
                </a:solidFill>
                <a:latin typeface="Inter 28pt"/>
              </a:rPr>
              <a:t>Attribution: SQO / Won are fractional multi-touch attributed credit, used as-is, phrased as attributed values, never as deals counted once.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28016" cy="128016"/>
          </a:xfrm>
          <a:prstGeom prst="rect">
            <a:avLst/>
          </a:prstGeom>
          <a:solidFill>
            <a:srgbClr val="5938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87552" y="21305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300" b="0" dirty="0">
                <a:solidFill>
                  <a:srgbClr val="141414"/>
                </a:solidFill>
                <a:latin typeface="Inter 28pt"/>
              </a:rPr>
              <a:t>Funnel lag: stages are not same-day cohorts (MQP &gt; Prospects in ~13% of daily rows, Demo &gt; MQP in ~29%). All rates at monthly grain or coarser; period ratios, not cohort rates.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07792"/>
            <a:ext cx="128016" cy="128016"/>
          </a:xfrm>
          <a:prstGeom prst="rect">
            <a:avLst/>
          </a:prstGeom>
          <a:solidFill>
            <a:srgbClr val="5938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87552" y="2843784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300" b="0" dirty="0">
                <a:solidFill>
                  <a:srgbClr val="141414"/>
                </a:solidFill>
                <a:latin typeface="Inter 28pt"/>
              </a:rPr>
              <a:t>MQP tracking starts Feb-24 (effectively zero before: one 2-unit row in Jan-24); analyzed from Mar-24 only, FY YoY suppressed. Detail: slide 12.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21024"/>
            <a:ext cx="128016" cy="128016"/>
          </a:xfrm>
          <a:prstGeom prst="rect">
            <a:avLst/>
          </a:prstGeom>
          <a:solidFill>
            <a:srgbClr val="5938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87552" y="3557016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300" b="0" dirty="0">
                <a:solidFill>
                  <a:srgbClr val="141414"/>
                </a:solidFill>
                <a:latin typeface="Inter 28pt"/>
              </a:rPr>
              <a:t>website demo definition shift Nov-23 (candidate tracking change, hypothesis). Detail: slide 12.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34256"/>
            <a:ext cx="128016" cy="128016"/>
          </a:xfrm>
          <a:prstGeom prst="rect">
            <a:avLst/>
          </a:prstGeom>
          <a:solidFill>
            <a:srgbClr val="5938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987552" y="427024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300" b="0" dirty="0">
                <a:solidFill>
                  <a:srgbClr val="141414"/>
                </a:solidFill>
                <a:latin typeface="Inter 28pt"/>
              </a:rPr>
              <a:t>De-duplication: 52 duplicate (date, program) rows (26 keys, regional &amp; website, Jun-18..30 2025; one real + one all-zero row each) aggregated by sum; the all-zero rows also carried a wrong team label, repaired to the program's majority team.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47488"/>
            <a:ext cx="128016" cy="128016"/>
          </a:xfrm>
          <a:prstGeom prst="rect">
            <a:avLst/>
          </a:prstGeom>
          <a:solidFill>
            <a:srgbClr val="5938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87552" y="498348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300" b="0" dirty="0">
                <a:solidFill>
                  <a:srgbClr val="141414"/>
                </a:solidFill>
                <a:latin typeface="Inter 28pt"/>
              </a:rPr>
              <a:t>ooh &amp; </a:t>
            </a:r>
            <a:r>
              <a:rPr lang="en-US" sz="1300" b="0" dirty="0" err="1">
                <a:solidFill>
                  <a:srgbClr val="141414"/>
                </a:solidFill>
                <a:latin typeface="Inter 28pt"/>
              </a:rPr>
              <a:t>paid_other</a:t>
            </a:r>
            <a:r>
              <a:rPr lang="en-US" sz="1300" b="0" dirty="0">
                <a:solidFill>
                  <a:srgbClr val="141414"/>
                </a:solidFill>
                <a:latin typeface="Inter 28pt"/>
              </a:rPr>
              <a:t> excluded (zero cost, zero outcomes); 35 clicks&gt;impressions rows flagged and excluded from CTR 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989320"/>
            <a:ext cx="10911535" cy="9525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10911535" cy="456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en-US" sz="1200" b="0" dirty="0">
                <a:solidFill>
                  <a:srgbClr val="404040"/>
                </a:solidFill>
                <a:latin typeface="Inter 28pt"/>
              </a:rPr>
              <a:t>every assumption &amp; cleaning decision: </a:t>
            </a:r>
            <a:r>
              <a:rPr lang="en-US" sz="1200" b="0" dirty="0" err="1">
                <a:solidFill>
                  <a:srgbClr val="404040"/>
                </a:solidFill>
                <a:latin typeface="Inter 28pt"/>
              </a:rPr>
              <a:t>ASSUMPTIONS.md</a:t>
            </a:r>
            <a:r>
              <a:rPr lang="en-US" sz="1200" b="0" dirty="0">
                <a:solidFill>
                  <a:srgbClr val="404040"/>
                </a:solidFill>
                <a:latin typeface="Inter 28pt"/>
              </a:rPr>
              <a:t> · reproduce end-to-end: ./</a:t>
            </a:r>
            <a:r>
              <a:rPr lang="en-US" sz="1200" b="0" dirty="0" err="1">
                <a:solidFill>
                  <a:srgbClr val="404040"/>
                </a:solidFill>
                <a:latin typeface="Inter 28pt"/>
              </a:rPr>
              <a:t>run.sh</a:t>
            </a:r>
            <a:r>
              <a:rPr lang="en-US" sz="1200" b="0" dirty="0">
                <a:solidFill>
                  <a:srgbClr val="404040"/>
                </a:solidFill>
                <a:latin typeface="Inter 28pt"/>
              </a:rPr>
              <a:t> (raw CSV → clean data → figures → this deck). All 75 headline numbers re-derived from the raw file in analysis/</a:t>
            </a:r>
            <a:r>
              <a:rPr lang="en-US" sz="1200" b="0" dirty="0" err="1">
                <a:solidFill>
                  <a:srgbClr val="404040"/>
                </a:solidFill>
                <a:latin typeface="Inter 28pt"/>
              </a:rPr>
              <a:t>verify_numbers.py</a:t>
            </a:r>
            <a:r>
              <a:rPr lang="en-US" sz="1200" b="0" dirty="0">
                <a:solidFill>
                  <a:srgbClr val="404040"/>
                </a:solidFill>
                <a:latin typeface="Inter 28pt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